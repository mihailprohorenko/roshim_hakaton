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73C66"/>
                </a:solidFill>
                <a:latin typeface="DejaVu Sans"/>
              </a:defRPr>
            </a:pPr>
            <a:r>
              <a:t>ПВХ: прогноз цены и поддержка решений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45368"/>
                </a:solidFill>
                <a:latin typeface="DejaVu Sans"/>
              </a:defRPr>
            </a:pPr>
            <a:r>
              <a:t>РОСХИМ · Прогноз цены ПВХ · 29 октября 2026     |    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73C66"/>
                </a:solidFill>
                <a:latin typeface="DejaVu Sans"/>
              </a:defRPr>
            </a:pPr>
            <a:r>
              <a:t>SG-5 (Китай), DAP Достык</a:t>
            </a:r>
          </a:p>
          <a:p>
            <a:pPr>
              <a:spcAft>
                <a:spcPts val="1200"/>
              </a:spcAft>
              <a:defRPr sz="3000" b="1">
                <a:solidFill>
                  <a:srgbClr val="173C66"/>
                </a:solidFill>
                <a:latin typeface="DejaVu Sans"/>
              </a:defRPr>
            </a:pPr>
            <a:r>
              <a:t>13 будущих недель · анонимизированный индекс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445368"/>
                </a:solidFill>
                <a:latin typeface="DejaVu Sans"/>
              </a:defRPr>
            </a:pPr>
            <a:r>
              <a:t>Прогноз + интервалы + фиксированная стратегия + интерактивное демо</a:t>
            </a:r>
          </a:p>
          <a:p>
            <a:pPr>
              <a:spcAft>
                <a:spcPts val="1200"/>
              </a:spcAft>
              <a:defRPr sz="2400" b="0">
                <a:solidFill>
                  <a:srgbClr val="445368"/>
                </a:solidFill>
                <a:latin typeface="DejaVu Sans"/>
              </a:defRPr>
            </a:pPr>
            <a:r>
              <a:t>Для обсуждения сроков продаж, закупок и планирования</a:t>
            </a:r>
          </a:p>
          <a:p>
            <a:pPr>
              <a:spcAft>
                <a:spcPts val="1200"/>
              </a:spcAft>
              <a:defRPr sz="2400" b="0">
                <a:solidFill>
                  <a:srgbClr val="445368"/>
                </a:solidFill>
                <a:latin typeface="DejaVu Sans"/>
              </a:defRPr>
            </a:pPr>
            <a:r>
              <a:t>Рабочее воспроизводимое решение; гарантированная прибыль не заявляется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73C66"/>
                </a:solidFill>
                <a:latin typeface="DejaVu Sans"/>
              </a:defRPr>
            </a:pPr>
            <a:r>
              <a:t>Метод: только информация из прошлого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45368"/>
                </a:solidFill>
                <a:latin typeface="DejaVu Sans"/>
              </a:defRPr>
            </a:pPr>
            <a:r>
              <a:t>РОСХИМ · Прогноз цены ПВХ · 29 октября 2026     |    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173C66"/>
                </a:solidFill>
                <a:latin typeface="DejaVu Sans"/>
              </a:defRPr>
            </a:pPr>
            <a:r>
              <a:t>XLSB → календарь → признаки → временная проверка → прогноз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445368"/>
                </a:solidFill>
                <a:latin typeface="DejaVu Sans"/>
              </a:defRPr>
            </a:pPr>
            <a:r>
              <a:t>36 293 записи · 170 рядов · недельная цель</a:t>
            </a:r>
          </a:p>
          <a:p>
            <a:pPr>
              <a:spcAft>
                <a:spcPts val="1200"/>
              </a:spcAft>
              <a:defRPr sz="2300" b="0">
                <a:solidFill>
                  <a:srgbClr val="445368"/>
                </a:solidFill>
                <a:latin typeface="DejaVu Sans"/>
              </a:defRPr>
            </a:pPr>
            <a:r>
              <a:t>24 блока по 13 недель; признаки и обучение внутри каждого префикса</a:t>
            </a:r>
          </a:p>
          <a:p>
            <a:pPr>
              <a:spcAft>
                <a:spcPts val="1200"/>
              </a:spcAft>
              <a:defRPr sz="2300" b="0">
                <a:solidFill>
                  <a:srgbClr val="445368"/>
                </a:solidFill>
                <a:latin typeface="DejaVu Sans"/>
              </a:defRPr>
            </a:pPr>
            <a:r>
              <a:t>16 исходных вариантов: naive, Holt, Ridge, CatBoost и ансамбли</a:t>
            </a:r>
          </a:p>
          <a:p>
            <a:pPr>
              <a:spcAft>
                <a:spcPts val="1200"/>
              </a:spcAft>
              <a:defRPr sz="2300" b="0">
                <a:solidFill>
                  <a:srgbClr val="445368"/>
                </a:solidFill>
                <a:latin typeface="DejaVu Sans"/>
              </a:defRPr>
            </a:pPr>
            <a:r>
              <a:t>Финальный кандидат: CatBoost MAE с рыночными признаками</a:t>
            </a:r>
          </a:p>
          <a:p>
            <a:pPr>
              <a:spcAft>
                <a:spcPts val="1200"/>
              </a:spcAft>
              <a:defRPr sz="2300" b="0">
                <a:solidFill>
                  <a:srgbClr val="445368"/>
                </a:solidFill>
                <a:latin typeface="DejaVu Sans"/>
              </a:defRPr>
            </a:pPr>
            <a:r>
              <a:t>Дополнительно проверены 2 осторожных ансамбля с naive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73C66"/>
                </a:solidFill>
                <a:latin typeface="DejaVu Sans"/>
              </a:defRPr>
            </a:pPr>
            <a:r>
              <a:t>Качество: небольшой выигрыш, устойчивость ограничена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45368"/>
                </a:solidFill>
                <a:latin typeface="DejaVu Sans"/>
              </a:defRPr>
            </a:pPr>
            <a:r>
              <a:t>РОСХИМ · Прогноз цены ПВХ · 29 октября 2026     |     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45368"/>
                </a:solidFill>
                <a:latin typeface="DejaVu Sans"/>
              </a:defRPr>
            </a:pPr>
            <a:r>
              <a:t>Последние 8 окон: 4.83% против 5.08% у naive.</a:t>
            </a:r>
          </a:p>
          <a:p>
            <a:pPr>
              <a:spcAft>
                <a:spcPts val="1200"/>
              </a:spcAft>
              <a:defRPr sz="2000" b="0">
                <a:solidFill>
                  <a:srgbClr val="445368"/>
                </a:solidFill>
                <a:latin typeface="DejaVu Sans"/>
              </a:defRPr>
            </a:pPr>
            <a:r>
              <a:t>20 блоков: 5.00% против 4.78% у naive.</a:t>
            </a:r>
          </a:p>
          <a:p>
            <a:pPr>
              <a:spcAft>
                <a:spcPts val="1200"/>
              </a:spcAft>
              <a:defRPr sz="2000" b="0">
                <a:solidFill>
                  <a:srgbClr val="445368"/>
                </a:solidFill>
                <a:latin typeface="DejaVu Sans"/>
              </a:defRPr>
            </a:pPr>
            <a:r>
              <a:t>Устойчивое превосходство не подтверждено.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926080"/>
            <a:ext cx="9692640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69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445368"/>
                </a:solidFill>
                <a:latin typeface="DejaVu Sans"/>
              </a:defRPr>
            </a:pPr>
            <a:r>
              <a:t>Ансамбли снижали общий риск ошибки, но ухудшали недавние окна: прогноз оставлен без замены.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73C66"/>
                </a:solidFill>
                <a:latin typeface="DejaVu Sans"/>
              </a:defRPr>
            </a:pPr>
            <a:r>
              <a:t>Ошибка растёт с горизонтом — пересмотр полезен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45368"/>
                </a:solidFill>
                <a:latin typeface="DejaVu Sans"/>
              </a:defRPr>
            </a:pPr>
            <a:r>
              <a:t>РОСХИМ · Прогноз цены ПВХ · 29 октября 2026     |     4/5</a:t>
            </a:r>
          </a:p>
        </p:txBody>
      </p:sp>
      <p:pic>
        <p:nvPicPr>
          <p:cNvPr id="4" name="Picture 3" descr="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2412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920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45368"/>
                </a:solidFill>
                <a:latin typeface="DejaVu Sans"/>
              </a:defRPr>
            </a:pPr>
            <a:r>
              <a:t>Уточнение t+2 после t+1: 4,44% → 2,87% sMAPE на 15 парах.</a:t>
            </a:r>
          </a:p>
          <a:p>
            <a:pPr>
              <a:spcAft>
                <a:spcPts val="1200"/>
              </a:spcAft>
              <a:defRPr sz="1900" b="0">
                <a:solidFill>
                  <a:srgbClr val="445368"/>
                </a:solidFill>
                <a:latin typeface="DejaVu Sans"/>
              </a:defRPr>
            </a:pPr>
            <a:r>
              <a:t>Это отдельное исследование: конкурсный прогноз новых фактов не получает.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73C66"/>
                </a:solidFill>
                <a:latin typeface="DejaVu Sans"/>
              </a:defRPr>
            </a:pPr>
            <a:r>
              <a:t>Риск и готовый инструмент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45368"/>
                </a:solidFill>
                <a:latin typeface="DejaVu Sans"/>
              </a:defRPr>
            </a:pPr>
            <a:r>
              <a:t>РОСХИМ · Прогноз цены ПВХ · 29 октября 2026     |    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445368"/>
                </a:solidFill>
                <a:latin typeface="DejaVu Sans"/>
              </a:defRPr>
            </a:pPr>
            <a:r>
              <a:t>Интервалы: покрытие 97.3%, широкие, без гарантии.</a:t>
            </a:r>
          </a:p>
          <a:p>
            <a:pPr>
              <a:spcAft>
                <a:spcPts val="1200"/>
              </a:spcAft>
              <a:defRPr sz="2300" b="0">
                <a:solidFill>
                  <a:srgbClr val="445368"/>
                </a:solidFill>
                <a:latin typeface="DejaVu Sans"/>
              </a:defRPr>
            </a:pPr>
            <a:r>
              <a:t>Стратегия: +0.115; после условных затрат +0.080.</a:t>
            </a:r>
          </a:p>
          <a:p>
            <a:pPr>
              <a:spcAft>
                <a:spcPts val="1200"/>
              </a:spcAft>
              <a:defRPr sz="2300" b="0">
                <a:solidFill>
                  <a:srgbClr val="445368"/>
                </a:solidFill>
                <a:latin typeface="DejaVu Sans"/>
              </a:defRPr>
            </a:pPr>
            <a:r>
              <a:t>Максимум одна активная неделя на 13 недель.</a:t>
            </a:r>
          </a:p>
          <a:p>
            <a:pPr>
              <a:spcAft>
                <a:spcPts val="1200"/>
              </a:spcAft>
              <a:defRPr sz="2300" b="0">
                <a:solidFill>
                  <a:srgbClr val="445368"/>
                </a:solidFill>
                <a:latin typeface="DejaVu Sans"/>
              </a:defRPr>
            </a:pPr>
            <a:r>
              <a:t>5 прибыльных блоков, 2 убыточных; выборка небольшая.</a:t>
            </a:r>
          </a:p>
          <a:p>
            <a:pPr>
              <a:spcAft>
                <a:spcPts val="1200"/>
              </a:spcAft>
              <a:defRPr sz="2300" b="0">
                <a:solidFill>
                  <a:srgbClr val="445368"/>
                </a:solidFill>
                <a:latin typeface="DejaVu Sans"/>
              </a:defRPr>
            </a:pPr>
            <a:r>
              <a:t>Порог ±10%: плюс; без 2 лучших с затратами: минус.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73C66"/>
                </a:solidFill>
                <a:latin typeface="DejaVu Sans"/>
              </a:defRPr>
            </a:pPr>
            <a:r>
              <a:t>Будущая прибыль не гарантируется. Следующий шаг — проверка на новых котировках.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