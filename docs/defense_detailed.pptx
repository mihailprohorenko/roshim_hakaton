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D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03504"/>
            <a:ext cx="594360" cy="59436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79CED0"/>
                </a:solidFill>
                <a:latin typeface="Arial"/>
              </a:defRPr>
            </a:pPr>
            <a:r>
              <a:t>ХАКАТОН РОСХИМ · ПРИКЛАДНОЕ ПРОГНОЗИРОВАНИЕ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54480"/>
            <a:ext cx="106984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FFFFFF"/>
                </a:solidFill>
                <a:latin typeface="Arial"/>
              </a:defRPr>
            </a:pPr>
            <a:r>
              <a:t>ПВХ: от прогноза цены</a:t>
            </a:r>
          </a:p>
          <a:p>
            <a:pPr>
              <a:spcAft>
                <a:spcPts val="800"/>
              </a:spcAft>
              <a:defRPr sz="3800" b="1">
                <a:solidFill>
                  <a:srgbClr val="FFFFFF"/>
                </a:solidFill>
                <a:latin typeface="Arial"/>
              </a:defRPr>
            </a:pPr>
            <a:r>
              <a:t>к осторожному решению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182112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D4E0EC"/>
                </a:solidFill>
                <a:latin typeface="Arial"/>
              </a:defRPr>
            </a:pPr>
            <a:r>
              <a:t>SG-5 (Китай), DAP Достык · индекс k</a:t>
            </a:r>
          </a:p>
          <a:p>
            <a:pPr>
              <a:spcAft>
                <a:spcPts val="800"/>
              </a:spcAft>
              <a:defRPr sz="2100" b="0">
                <a:solidFill>
                  <a:srgbClr val="D4E0EC"/>
                </a:solidFill>
                <a:latin typeface="Arial"/>
              </a:defRPr>
            </a:pPr>
            <a:r>
              <a:t>13 будущих недель · фиксированная конкурсная сдача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17720"/>
            <a:ext cx="3474720" cy="1188720"/>
          </a:xfrm>
          <a:prstGeom prst="roundRect">
            <a:avLst>
              <a:gd name="adj" fmla="val 4000"/>
            </a:avLst>
          </a:prstGeom>
          <a:solidFill>
            <a:srgbClr val="203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77316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7ED3D4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349240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4E0EC"/>
                </a:solidFill>
                <a:latin typeface="Arial"/>
              </a:defRPr>
            </a:pPr>
            <a:r>
              <a:t>недель прогноза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9392" y="4617720"/>
            <a:ext cx="3474720" cy="1188720"/>
          </a:xfrm>
          <a:prstGeom prst="roundRect">
            <a:avLst>
              <a:gd name="adj" fmla="val 4000"/>
            </a:avLst>
          </a:prstGeom>
          <a:solidFill>
            <a:srgbClr val="203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477316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7ED3D4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2" y="5349240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4E0EC"/>
                </a:solidFill>
                <a:latin typeface="Arial"/>
              </a:defRPr>
            </a:pPr>
            <a:r>
              <a:t>исторических блока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4617720"/>
            <a:ext cx="3474720" cy="1188720"/>
          </a:xfrm>
          <a:prstGeom prst="roundRect">
            <a:avLst>
              <a:gd name="adj" fmla="val 4000"/>
            </a:avLst>
          </a:prstGeom>
          <a:solidFill>
            <a:srgbClr val="203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9" y="477316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7ED3D4"/>
                </a:solidFill>
                <a:latin typeface="Arial"/>
              </a:defRPr>
            </a:pPr>
            <a:r>
              <a:t>+0,1145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59" y="5349240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4E0EC"/>
                </a:solidFill>
                <a:latin typeface="Arial"/>
              </a:defRPr>
            </a:pPr>
            <a:r>
              <a:t>P&amp;L на истории, усл. ед.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309360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AAC0D4"/>
                </a:solidFill>
                <a:latin typeface="Arial"/>
              </a:defRPr>
            </a:pPr>
            <a:r>
              <a:t>Команда Roshim_hakaton · исторические результаты не гарантируют будущую прибыль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8B91"/>
                </a:solidFill>
                <a:latin typeface="Arial"/>
              </a:defRPr>
            </a:pPr>
            <a:r>
              <a:t>ДАННЫЕ И КОРРЕКТНОСТЬ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52D46"/>
                </a:solidFill>
                <a:latin typeface="Arial"/>
              </a:defRPr>
            </a:pPr>
            <a:r>
              <a:t>Сначала — календарь и доступность информации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1887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473952"/>
            <a:ext cx="3161211" cy="23774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74536"/>
            <a:ext cx="914400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66B80"/>
                </a:solidFill>
                <a:latin typeface="Arial"/>
              </a:defRPr>
            </a:pPr>
            <a:r>
              <a:t>РОСХИМ · ПВХ SG-5 DAP Достык · 29 октября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66B80"/>
                </a:solidFill>
                <a:latin typeface="Arial"/>
              </a:defRPr>
            </a:pPr>
            <a:r>
              <a:t>02 / 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10512"/>
            <a:ext cx="3520440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56816"/>
            <a:ext cx="311810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566B80"/>
                </a:solidFill>
                <a:latin typeface="Arial"/>
              </a:defRPr>
            </a:pPr>
            <a:r>
              <a:t>ОФИЦИАЛЬНЫЙ ДАТАСЕТ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331720"/>
            <a:ext cx="31181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008B91"/>
                </a:solidFill>
                <a:latin typeface="Arial"/>
              </a:defRPr>
            </a:pPr>
            <a:r>
              <a:t>36 293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980944"/>
            <a:ext cx="311810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66B80"/>
                </a:solidFill>
                <a:latin typeface="Arial"/>
              </a:defRPr>
            </a:pPr>
            <a:r>
              <a:t>записи · 170 рядов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810512"/>
            <a:ext cx="3520440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1956816"/>
            <a:ext cx="311810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566B80"/>
                </a:solidFill>
                <a:latin typeface="Arial"/>
              </a:defRPr>
            </a:pPr>
            <a:r>
              <a:t>ЦЕЛЕВОЙ РЯД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331720"/>
            <a:ext cx="31181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008B91"/>
                </a:solidFill>
                <a:latin typeface="Arial"/>
              </a:defRPr>
            </a:pPr>
            <a:r>
              <a:t>552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980944"/>
            <a:ext cx="311810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66B80"/>
                </a:solidFill>
                <a:latin typeface="Arial"/>
              </a:defRPr>
            </a:pPr>
            <a:r>
              <a:t>исходные записи · недельная котировка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1810512"/>
            <a:ext cx="3520440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4" y="1956816"/>
            <a:ext cx="311810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566B80"/>
                </a:solidFill>
                <a:latin typeface="Arial"/>
              </a:defRPr>
            </a:pPr>
            <a:r>
              <a:t>ПОСЛЕ ПОДГОТОВКИ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2331720"/>
            <a:ext cx="31181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008B91"/>
                </a:solidFill>
                <a:latin typeface="Arial"/>
              </a:defRPr>
            </a:pPr>
            <a:r>
              <a:t>551 + 13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2980944"/>
            <a:ext cx="311810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66B80"/>
                </a:solidFill>
                <a:latin typeface="Arial"/>
              </a:defRPr>
            </a:pPr>
            <a:r>
              <a:t>наблюдаемых недель + пропуски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767328"/>
            <a:ext cx="11064240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3950208"/>
            <a:ext cx="10515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52D46"/>
                </a:solidFill>
                <a:latin typeface="Arial"/>
              </a:defRPr>
            </a:pPr>
            <a:r>
              <a:t>На каждой исторической отсечке модель видит только прошлое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468172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8B91"/>
                </a:solidFill>
                <a:latin typeface="Arial"/>
              </a:defRPr>
            </a:pPr>
            <a:r>
              <a:t>Календарь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516636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66B80"/>
                </a:solidFill>
                <a:latin typeface="Arial"/>
              </a:defRPr>
            </a:pPr>
            <a:r>
              <a:t>Повторные релизы объединяем;</a:t>
            </a:r>
          </a:p>
          <a:p>
            <a:pPr>
              <a:spcAft>
                <a:spcPts val="800"/>
              </a:spcAft>
              <a:defRPr sz="1500" b="0">
                <a:solidFill>
                  <a:srgbClr val="566B80"/>
                </a:solidFill>
                <a:latin typeface="Arial"/>
              </a:defRPr>
            </a:pPr>
            <a:r>
              <a:t>праздничные даты согласуем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68172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8B91"/>
                </a:solidFill>
                <a:latin typeface="Arial"/>
              </a:defRPr>
            </a:pPr>
            <a:r>
              <a:t>Пропуски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516636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66B80"/>
                </a:solidFill>
                <a:latin typeface="Arial"/>
              </a:defRPr>
            </a:pPr>
            <a:r>
              <a:t>Не подменяем факты</a:t>
            </a:r>
          </a:p>
          <a:p>
            <a:pPr>
              <a:spcAft>
                <a:spcPts val="800"/>
              </a:spcAft>
              <a:defRPr sz="1500" b="0">
                <a:solidFill>
                  <a:srgbClr val="566B80"/>
                </a:solidFill>
                <a:latin typeface="Arial"/>
              </a:defRPr>
            </a:pPr>
            <a:r>
              <a:t>в метриках и ответах модели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65008" y="468172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8B91"/>
                </a:solidFill>
                <a:latin typeface="Arial"/>
              </a:defRPr>
            </a:pPr>
            <a:r>
              <a:t>Сырьё и рынки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5008" y="516636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66B80"/>
                </a:solidFill>
                <a:latin typeface="Arial"/>
              </a:defRPr>
            </a:pPr>
            <a:r>
              <a:t>Нет будущих котировок;</a:t>
            </a:r>
          </a:p>
          <a:p>
            <a:pPr>
              <a:spcAft>
                <a:spcPts val="800"/>
              </a:spcAft>
              <a:defRPr sz="1500" b="0">
                <a:solidFill>
                  <a:srgbClr val="566B80"/>
                </a:solidFill>
                <a:latin typeface="Arial"/>
              </a:defRPr>
            </a:pPr>
            <a:r>
              <a:t>давность не более 45 дней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8B91"/>
                </a:solidFill>
                <a:latin typeface="Arial"/>
              </a:defRPr>
            </a:pPr>
            <a:r>
              <a:t>КАК УСТРОЕН ПРОГНОЗ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52D46"/>
                </a:solidFill>
                <a:latin typeface="Arial"/>
              </a:defRPr>
            </a:pPr>
            <a:r>
              <a:t>Модель учится на цене, движении и состоянии рынка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1887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473952"/>
            <a:ext cx="4741817" cy="23774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74536"/>
            <a:ext cx="914400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66B80"/>
                </a:solidFill>
                <a:latin typeface="Arial"/>
              </a:defRPr>
            </a:pPr>
            <a:r>
              <a:t>РОСХИМ · ПВХ SG-5 DAP Достык · 29 октября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66B80"/>
                </a:solidFill>
                <a:latin typeface="Arial"/>
              </a:defRPr>
            </a:pPr>
            <a:r>
              <a:t>03 / 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19656"/>
            <a:ext cx="3520440" cy="208483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0116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8B91"/>
                </a:solidFill>
                <a:latin typeface="Arial"/>
              </a:defRPr>
            </a:pPr>
            <a:r>
              <a:t>История цели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642616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66B80"/>
                </a:solidFill>
                <a:latin typeface="Arial"/>
              </a:defRPr>
            </a:pPr>
            <a:r>
              <a:t>Лаги и изменения</a:t>
            </a:r>
          </a:p>
          <a:p>
            <a:pPr>
              <a:spcAft>
                <a:spcPts val="800"/>
              </a:spcAft>
              <a:defRPr sz="1700" b="0">
                <a:solidFill>
                  <a:srgbClr val="566B80"/>
                </a:solidFill>
                <a:latin typeface="Arial"/>
              </a:defRPr>
            </a:pPr>
            <a:r>
              <a:t>Тренд и волатильность</a:t>
            </a:r>
          </a:p>
          <a:p>
            <a:pPr>
              <a:spcAft>
                <a:spcPts val="800"/>
              </a:spcAft>
              <a:defRPr sz="1700" b="0">
                <a:solidFill>
                  <a:srgbClr val="566B80"/>
                </a:solidFill>
                <a:latin typeface="Arial"/>
              </a:defRPr>
            </a:pPr>
            <a:r>
              <a:t>Неизменность котировки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19656"/>
            <a:ext cx="3520440" cy="208483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0116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8B91"/>
                </a:solidFill>
                <a:latin typeface="Arial"/>
              </a:defRPr>
            </a:pPr>
            <a:r>
              <a:t>Рыночные индикаторы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642616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66B80"/>
                </a:solidFill>
                <a:latin typeface="Arial"/>
              </a:defRPr>
            </a:pPr>
            <a:r>
              <a:t>ПВХ разных рынков</a:t>
            </a:r>
          </a:p>
          <a:p>
            <a:pPr>
              <a:spcAft>
                <a:spcPts val="800"/>
              </a:spcAft>
              <a:defRPr sz="1700" b="0">
                <a:solidFill>
                  <a:srgbClr val="566B80"/>
                </a:solidFill>
                <a:latin typeface="Arial"/>
              </a:defRPr>
            </a:pPr>
            <a:r>
              <a:t>Этилен, нафта, Brent</a:t>
            </a:r>
          </a:p>
          <a:p>
            <a:pPr>
              <a:spcAft>
                <a:spcPts val="800"/>
              </a:spcAft>
              <a:defRPr sz="1700" b="0">
                <a:solidFill>
                  <a:srgbClr val="566B80"/>
                </a:solidFill>
                <a:latin typeface="Arial"/>
              </a:defRPr>
            </a:pPr>
            <a:r>
              <a:t>Расхождение динамики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819656"/>
            <a:ext cx="3520440" cy="208483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20116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8B91"/>
                </a:solidFill>
                <a:latin typeface="Arial"/>
              </a:defRPr>
            </a:pPr>
            <a:r>
              <a:t>Календарь и горизонт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642616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66B80"/>
                </a:solidFill>
                <a:latin typeface="Arial"/>
              </a:defRPr>
            </a:pPr>
            <a:r>
              <a:t>Сезонные признаки</a:t>
            </a:r>
          </a:p>
          <a:p>
            <a:pPr>
              <a:spcAft>
                <a:spcPts val="800"/>
              </a:spcAft>
              <a:defRPr sz="1700" b="0">
                <a:solidFill>
                  <a:srgbClr val="566B80"/>
                </a:solidFill>
                <a:latin typeface="Arial"/>
              </a:defRPr>
            </a:pPr>
            <a:r>
              <a:t>Номер будущей недели</a:t>
            </a:r>
          </a:p>
          <a:p>
            <a:pPr>
              <a:spcAft>
                <a:spcPts val="800"/>
              </a:spcAft>
              <a:defRPr sz="1700" b="0">
                <a:solidFill>
                  <a:srgbClr val="566B80"/>
                </a:solidFill>
                <a:latin typeface="Arial"/>
              </a:defRPr>
            </a:pPr>
            <a:r>
              <a:t>Одна модель на горизонты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8"/>
            <a:ext cx="11064240" cy="941832"/>
          </a:xfrm>
          <a:prstGeom prst="roundRect">
            <a:avLst>
              <a:gd name="adj" fmla="val 4000"/>
            </a:avLst>
          </a:prstGeom>
          <a:solidFill>
            <a:srgbClr val="15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489704"/>
            <a:ext cx="10469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  <a:latin typeface="Arial"/>
              </a:defRPr>
            </a:pPr>
            <a:r>
              <a:t>Признаки на отсечке → CatBoost MAE → 13 значений 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468112"/>
            <a:ext cx="10835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66B80"/>
                </a:solidFill>
                <a:latin typeface="Arial"/>
              </a:defRPr>
            </a:pPr>
            <a:r>
              <a:t>16 исходных вариантов + 2 осторожных ансамбля. Абсолютные уровни разных</a:t>
            </a:r>
          </a:p>
          <a:p>
            <a:pPr>
              <a:spcAft>
                <a:spcPts val="800"/>
              </a:spcAft>
              <a:defRPr sz="1500" b="0">
                <a:solidFill>
                  <a:srgbClr val="566B80"/>
                </a:solidFill>
                <a:latin typeface="Arial"/>
              </a:defRPr>
            </a:pPr>
            <a:r>
              <a:t>анонимизированных рынков не смешиваем. Важность признака — не причинность.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8B91"/>
                </a:solidFill>
                <a:latin typeface="Arial"/>
              </a:defRPr>
            </a:pPr>
            <a:r>
              <a:t>КАЧЕСТВО И ВРЕМЕННАЯ ПРОВЕРКА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52D46"/>
                </a:solidFill>
                <a:latin typeface="Arial"/>
              </a:defRPr>
            </a:pPr>
            <a:r>
              <a:t>Небольшой выигрыш на недавней истории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1887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473952"/>
            <a:ext cx="6322422" cy="23774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74536"/>
            <a:ext cx="914400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66B80"/>
                </a:solidFill>
                <a:latin typeface="Arial"/>
              </a:defRPr>
            </a:pPr>
            <a:r>
              <a:t>РОСХИМ · ПВХ SG-5 DAP Достык · 29 октября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66B80"/>
                </a:solidFill>
                <a:latin typeface="Arial"/>
              </a:defRPr>
            </a:pPr>
            <a:r>
              <a:t>04 / 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01368"/>
            <a:ext cx="7132320" cy="4178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01952"/>
            <a:ext cx="6903720" cy="285860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936992" y="1810512"/>
            <a:ext cx="3675887" cy="17465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956816"/>
            <a:ext cx="3273551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566B80"/>
                </a:solidFill>
                <a:latin typeface="Arial"/>
              </a:defRPr>
            </a:pPr>
            <a:r>
              <a:t>ПОСЛЕДНИЕ 8 ОКОН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331720"/>
            <a:ext cx="327355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008B91"/>
                </a:solidFill>
                <a:latin typeface="Arial"/>
              </a:defRPr>
            </a:pPr>
            <a:r>
              <a:t>+0,248 п.п.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980944"/>
            <a:ext cx="3273551" cy="4937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66B80"/>
                </a:solidFill>
                <a:latin typeface="Arial"/>
              </a:defRPr>
            </a:pPr>
            <a:r>
              <a:t>отрыв от naive; окна выбора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36992" y="3767328"/>
            <a:ext cx="3675887" cy="22037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47304" y="3968496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52D46"/>
                </a:solidFill>
                <a:latin typeface="Arial"/>
              </a:defRPr>
            </a:pPr>
            <a:r>
              <a:t>24 блока × 13 недель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4617720"/>
            <a:ext cx="32461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66B80"/>
                </a:solidFill>
                <a:latin typeface="Arial"/>
              </a:defRPr>
            </a:pPr>
            <a:r>
              <a:t>4 блока разогрева</a:t>
            </a:r>
          </a:p>
          <a:p>
            <a:pPr>
              <a:spcAft>
                <a:spcPts val="800"/>
              </a:spcAft>
              <a:defRPr sz="1700" b="0">
                <a:solidFill>
                  <a:srgbClr val="566B80"/>
                </a:solidFill>
                <a:latin typeface="Arial"/>
              </a:defRPr>
            </a:pPr>
            <a:r>
              <a:t>20 блоков сравнения</a:t>
            </a:r>
          </a:p>
          <a:p>
            <a:pPr>
              <a:spcAft>
                <a:spcPts val="800"/>
              </a:spcAft>
              <a:defRPr sz="1700" b="0">
                <a:solidFill>
                  <a:srgbClr val="566B80"/>
                </a:solidFill>
                <a:latin typeface="Arial"/>
              </a:defRPr>
            </a:pPr>
            <a:r>
              <a:t>Случайного разбиения нет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080760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66B80"/>
                </a:solidFill>
                <a:latin typeface="Arial"/>
              </a:defRPr>
            </a:pPr>
            <a:r>
              <a:t>Последние 8 входят в 20. Это разработческая история: устойчивое превосходство не подтверждено.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8B91"/>
                </a:solidFill>
                <a:latin typeface="Arial"/>
              </a:defRPr>
            </a:pPr>
            <a:r>
              <a:t>13 БУДУЩИХ НЕДЕЛЬ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52D46"/>
                </a:solidFill>
                <a:latin typeface="Arial"/>
              </a:defRPr>
            </a:pPr>
            <a:r>
              <a:t>Прогноз показывает направление и масштаб неопределённости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1887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473952"/>
            <a:ext cx="7903028" cy="23774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74536"/>
            <a:ext cx="914400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66B80"/>
                </a:solidFill>
                <a:latin typeface="Arial"/>
              </a:defRPr>
            </a:pPr>
            <a:r>
              <a:t>РОСХИМ · ПВХ SG-5 DAP Достык · 29 октября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66B80"/>
                </a:solidFill>
                <a:latin typeface="Arial"/>
              </a:defRPr>
            </a:pPr>
            <a:r>
              <a:t>05 / 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832104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74519"/>
            <a:ext cx="8183879" cy="313264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107424" y="1810512"/>
            <a:ext cx="2505456" cy="1783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08592" y="1956816"/>
            <a:ext cx="21031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566B80"/>
                </a:solidFill>
                <a:latin typeface="Arial"/>
              </a:defRPr>
            </a:pPr>
            <a:r>
              <a:t>К 13-Й НЕДЕЛЕ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08592" y="233172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008B91"/>
                </a:solidFill>
                <a:latin typeface="Arial"/>
              </a:defRPr>
            </a:pPr>
            <a:r>
              <a:t>-2.72%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08592" y="2980944"/>
            <a:ext cx="2103120" cy="5303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66B80"/>
                </a:solidFill>
                <a:latin typeface="Arial"/>
              </a:defRPr>
            </a:pPr>
            <a:r>
              <a:t>изменение прогноза</a:t>
            </a:r>
          </a:p>
          <a:p>
            <a:pPr>
              <a:spcAft>
                <a:spcPts val="800"/>
              </a:spcAft>
              <a:defRPr sz="1200" b="0">
                <a:solidFill>
                  <a:srgbClr val="566B80"/>
                </a:solidFill>
                <a:latin typeface="Arial"/>
              </a:defRPr>
            </a:pPr>
            <a:r>
              <a:t>от последнего факта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07424" y="3794760"/>
            <a:ext cx="2505456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08592" y="3941064"/>
            <a:ext cx="21031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566B80"/>
                </a:solidFill>
                <a:latin typeface="Arial"/>
              </a:defRPr>
            </a:pPr>
            <a:r>
              <a:t>ПОКРЫТИЕ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08592" y="4315968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008B91"/>
                </a:solidFill>
                <a:latin typeface="Arial"/>
              </a:defRPr>
            </a:pPr>
            <a:r>
              <a:t>97.3%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08592" y="4965192"/>
            <a:ext cx="2103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66B80"/>
                </a:solidFill>
                <a:latin typeface="Arial"/>
              </a:defRPr>
            </a:pPr>
            <a:r>
              <a:t>186 наблюдений</a:t>
            </a:r>
          </a:p>
          <a:p>
            <a:pPr>
              <a:spcAft>
                <a:spcPts val="800"/>
              </a:spcAft>
              <a:defRPr sz="1200" b="0">
                <a:solidFill>
                  <a:srgbClr val="566B80"/>
                </a:solidFill>
                <a:latin typeface="Arial"/>
              </a:defRPr>
            </a:pPr>
            <a:r>
              <a:t>Номинально 90%</a:t>
            </a:r>
          </a:p>
          <a:p>
            <a:pPr>
              <a:spcAft>
                <a:spcPts val="800"/>
              </a:spcAft>
              <a:defRPr sz="1200" b="0">
                <a:solidFill>
                  <a:srgbClr val="566B80"/>
                </a:solidFill>
                <a:latin typeface="Arial"/>
              </a:defRPr>
            </a:pPr>
            <a:r>
              <a:t>Интервалы широкие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080760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66B80"/>
                </a:solidFill>
                <a:latin typeface="Arial"/>
              </a:defRPr>
            </a:pPr>
            <a:r>
              <a:t>Покрытие — доля фактов внутри диапазона, а не точность модели. Будущее покрытие неизвестно.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8B91"/>
                </a:solidFill>
                <a:latin typeface="Arial"/>
              </a:defRPr>
            </a:pPr>
            <a:r>
              <a:t>СТРАТЕГИЯ И РИСК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52D46"/>
                </a:solidFill>
                <a:latin typeface="Arial"/>
              </a:defRPr>
            </a:pPr>
            <a:r>
              <a:t>Редкие решения вместо торговли по каждому колебанию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1887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473952"/>
            <a:ext cx="9483634" cy="23774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74536"/>
            <a:ext cx="914400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66B80"/>
                </a:solidFill>
                <a:latin typeface="Arial"/>
              </a:defRPr>
            </a:pPr>
            <a:r>
              <a:t>РОСХИМ · ПВХ SG-5 DAP Достык · 29 октября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66B80"/>
                </a:solidFill>
                <a:latin typeface="Arial"/>
              </a:defRPr>
            </a:pPr>
            <a:r>
              <a:t>06 / 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10512"/>
            <a:ext cx="11064240" cy="749808"/>
          </a:xfrm>
          <a:prstGeom prst="roundRect">
            <a:avLst>
              <a:gd name="adj" fmla="val 4000"/>
            </a:avLst>
          </a:prstGeom>
          <a:solidFill>
            <a:srgbClr val="15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01168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Сигнал → фильтр ошибки → одна активная неделя из 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88920"/>
            <a:ext cx="6903720" cy="3127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qu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852928"/>
            <a:ext cx="6784848" cy="310703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708392" y="2788920"/>
            <a:ext cx="3904487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2935224"/>
            <a:ext cx="3502151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566B80"/>
                </a:solidFill>
                <a:latin typeface="Arial"/>
              </a:defRPr>
            </a:pPr>
            <a:r>
              <a:t>P&amp;L НА ИСТОРИИ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3310127"/>
            <a:ext cx="350215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008B91"/>
                </a:solidFill>
                <a:latin typeface="Arial"/>
              </a:defRPr>
            </a:pPr>
            <a:r>
              <a:t>+0,1145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08392" y="4352544"/>
            <a:ext cx="3904487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498848"/>
            <a:ext cx="3502151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566B80"/>
                </a:solidFill>
                <a:latin typeface="Arial"/>
              </a:defRPr>
            </a:pPr>
            <a:r>
              <a:t>С УСЛОВНЫМИ ЗАТРАТАМИ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873752"/>
            <a:ext cx="350215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008B91"/>
                </a:solidFill>
                <a:latin typeface="Arial"/>
              </a:defRPr>
            </a:pPr>
            <a:r>
              <a:t>+0,0801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5522976"/>
            <a:ext cx="3502151" cy="301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66B80"/>
                </a:solidFill>
                <a:latin typeface="Arial"/>
              </a:defRPr>
            </a:pPr>
            <a:r>
              <a:t>12 активных недель · 5 прибыльных блоков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080760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66B80"/>
                </a:solidFill>
                <a:latin typeface="Arial"/>
              </a:defRPr>
            </a:pPr>
            <a:r>
              <a:t>В текущем CSV: −1 на первой неделе, затем 0. P&amp;L — условные единицы; комиссии жюри не заданы.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8B91"/>
                </a:solidFill>
                <a:latin typeface="Arial"/>
              </a:defRPr>
            </a:pPr>
            <a:r>
              <a:t>ПРОВЕРКИ И ПРИМЕНЕНИЕ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52D46"/>
                </a:solidFill>
                <a:latin typeface="Arial"/>
              </a:defRPr>
            </a:pPr>
            <a:r>
              <a:t>Проверили устойчивость — и раскрыли слабое место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1887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473952"/>
            <a:ext cx="11064240" cy="23774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74536"/>
            <a:ext cx="914400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66B80"/>
                </a:solidFill>
                <a:latin typeface="Arial"/>
              </a:defRPr>
            </a:pPr>
            <a:r>
              <a:t>РОСХИМ · ПВХ SG-5 DAP Достык · 29 октября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66B80"/>
                </a:solidFill>
                <a:latin typeface="Arial"/>
              </a:defRPr>
            </a:pPr>
            <a:r>
              <a:t>07 / 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10512"/>
            <a:ext cx="6035040" cy="33741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20240"/>
            <a:ext cx="5806440" cy="282173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39712" y="1810512"/>
            <a:ext cx="4773168" cy="15819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1956816"/>
            <a:ext cx="4370831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566B80"/>
                </a:solidFill>
                <a:latin typeface="Arial"/>
              </a:defRPr>
            </a:pPr>
            <a:r>
              <a:t>БЕЗ ЛУЧШЕГО БЛОКА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331720"/>
            <a:ext cx="437083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008B91"/>
                </a:solidFill>
                <a:latin typeface="Arial"/>
              </a:defRPr>
            </a:pPr>
            <a:r>
              <a:t>+0,0291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980944"/>
            <a:ext cx="4370831" cy="3291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66B80"/>
                </a:solidFill>
                <a:latin typeface="Arial"/>
              </a:defRPr>
            </a:pPr>
            <a:r>
              <a:t>P&amp;L после условных затрат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39712" y="3602736"/>
            <a:ext cx="4773168" cy="15819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4370831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566B80"/>
                </a:solidFill>
                <a:latin typeface="Arial"/>
              </a:defRPr>
            </a:pPr>
            <a:r>
              <a:t>БЕЗ ДВУХ ЛУЧШИХ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4123944"/>
            <a:ext cx="437083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B85763"/>
                </a:solidFill>
                <a:latin typeface="Arial"/>
              </a:defRPr>
            </a:pPr>
            <a:r>
              <a:t>−0,0136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4773168"/>
            <a:ext cx="4370831" cy="3291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66B80"/>
                </a:solidFill>
                <a:latin typeface="Arial"/>
              </a:defRPr>
            </a:pPr>
            <a:r>
              <a:t>с затратами; до затрат остаётся плюс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449824"/>
            <a:ext cx="11064240" cy="640080"/>
          </a:xfrm>
          <a:prstGeom prst="roundRect">
            <a:avLst>
              <a:gd name="adj" fmla="val 4000"/>
            </a:avLst>
          </a:prstGeom>
          <a:solidFill>
            <a:srgbClr val="15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623560"/>
            <a:ext cx="10652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Готовы: CSV · код и проверки · модель · демо · отчёт. Дальше — новые котировки.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8B91"/>
                </a:solidFill>
                <a:latin typeface="Arial"/>
              </a:defRPr>
            </a:pPr>
            <a:r>
              <a:t>ВОПРОСЫ · ОБЪЯСНИМОСТЬ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52D46"/>
                </a:solidFill>
                <a:latin typeface="Arial"/>
              </a:defRPr>
            </a:pPr>
            <a:r>
              <a:t>Какие признаки использует финальная модель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1887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74536"/>
            <a:ext cx="914400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66B80"/>
                </a:solidFill>
                <a:latin typeface="Arial"/>
              </a:defRPr>
            </a:pPr>
            <a:r>
              <a:t>РОСХИМ · ПВХ SG-5 DAP Достык · 29 октября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3796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66B80"/>
                </a:solidFill>
                <a:latin typeface="Arial"/>
              </a:defRPr>
            </a:pPr>
            <a:r>
              <a:t>РЕЗЕРВ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11064240" cy="424281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37943"/>
            <a:ext cx="9692640" cy="39408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108192"/>
            <a:ext cx="10881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66B80"/>
                </a:solidFill>
                <a:latin typeface="Arial"/>
              </a:defRPr>
            </a:pPr>
            <a:r>
              <a:t>Важность CatBoost показывает использование признака. Это не доказательство причинного влияния.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8B91"/>
                </a:solidFill>
                <a:latin typeface="Arial"/>
              </a:defRPr>
            </a:pPr>
            <a:r>
              <a:t>ВОПРОСЫ · ГОРИЗОНТЫ И ПЕРЕСЧЁТ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52D46"/>
                </a:solidFill>
                <a:latin typeface="Arial"/>
              </a:defRPr>
            </a:pPr>
            <a:r>
              <a:t>Зачем обновлять ориентир после новой котировки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1887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74536"/>
            <a:ext cx="914400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66B80"/>
                </a:solidFill>
                <a:latin typeface="Arial"/>
              </a:defRPr>
            </a:pPr>
            <a:r>
              <a:t>РОСХИМ · ПВХ SG-5 DAP Достык · 29 октября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3796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66B80"/>
                </a:solidFill>
                <a:latin typeface="Arial"/>
              </a:defRPr>
            </a:pPr>
            <a:r>
              <a:t>РЕЗЕРВ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6446520" cy="4251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oriz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1938528"/>
            <a:ext cx="6355080" cy="313869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260336" y="1810512"/>
            <a:ext cx="4352544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61504" y="1956816"/>
            <a:ext cx="3950207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566B80"/>
                </a:solidFill>
                <a:latin typeface="Arial"/>
              </a:defRPr>
            </a:pPr>
            <a:r>
              <a:t>ОТДЕЛЬНЫЙ ПАРНЫЙ ЭКСПЕРИМЕНТ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61504" y="2331720"/>
            <a:ext cx="395020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008B91"/>
                </a:solidFill>
                <a:latin typeface="Arial"/>
              </a:defRPr>
            </a:pPr>
            <a:r>
              <a:t>4,44% → 2,87%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61504" y="2980944"/>
            <a:ext cx="3950207" cy="484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66B80"/>
                </a:solidFill>
                <a:latin typeface="Arial"/>
              </a:defRPr>
            </a:pPr>
            <a:r>
              <a:t>t+2 после факта t+1 · 15 пар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336" y="3776472"/>
            <a:ext cx="4352544" cy="224942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79792" y="4005072"/>
            <a:ext cx="38862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566B80"/>
                </a:solidFill>
                <a:latin typeface="Arial"/>
              </a:defRPr>
            </a:pPr>
            <a:r>
              <a:t>Слева: одинаковые 14 полных блоков, финальная модель.</a:t>
            </a:r>
          </a:p>
          <a:p>
            <a:pPr>
              <a:spcAft>
                <a:spcPts val="800"/>
              </a:spcAft>
              <a:defRPr sz="1800" b="0">
                <a:solidFill>
                  <a:srgbClr val="566B80"/>
                </a:solidFill>
                <a:latin typeface="Arial"/>
              </a:defRPr>
            </a:pPr>
            <a:r>
              <a:t>Справа: исследование последовательного выбора.</a:t>
            </a:r>
          </a:p>
          <a:p>
            <a:pPr>
              <a:spcAft>
                <a:spcPts val="800"/>
              </a:spcAft>
              <a:defRPr sz="1800" b="0">
                <a:solidFill>
                  <a:srgbClr val="566B80"/>
                </a:solidFill>
                <a:latin typeface="Arial"/>
              </a:defRPr>
            </a:pPr>
            <a:r>
              <a:t>Конкурсный прогноз не обновляется.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8B91"/>
                </a:solidFill>
                <a:latin typeface="Arial"/>
              </a:defRPr>
            </a:pPr>
            <a:r>
              <a:t>ВОПРОСЫ · ФОРМУЛА СТРАТЕГИИ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52D46"/>
                </a:solidFill>
                <a:latin typeface="Arial"/>
              </a:defRPr>
            </a:pPr>
            <a:r>
              <a:t>Решение известно заранее, прибыль считается потом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1887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74536"/>
            <a:ext cx="914400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66B80"/>
                </a:solidFill>
                <a:latin typeface="Arial"/>
              </a:defRPr>
            </a:pPr>
            <a:r>
              <a:t>РОСХИМ · ПВХ SG-5 DAP Достык · 29 октября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3796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66B80"/>
                </a:solidFill>
                <a:latin typeface="Arial"/>
              </a:defRPr>
            </a:pPr>
            <a:r>
              <a:t>РЕЗЕРВ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10512"/>
            <a:ext cx="11064240" cy="914400"/>
          </a:xfrm>
          <a:prstGeom prst="roundRect">
            <a:avLst>
              <a:gd name="adj" fmla="val 4000"/>
            </a:avLst>
          </a:prstGeom>
          <a:solidFill>
            <a:srgbClr val="15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075688"/>
            <a:ext cx="105156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FFFFFF"/>
                </a:solidFill>
                <a:latin typeface="Arial"/>
              </a:defRPr>
            </a:pPr>
            <a:r>
              <a:t>Недельный P&amp;L = позиция × (цена недели − цена предыдущей недели)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99232"/>
            <a:ext cx="352044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09544"/>
            <a:ext cx="313639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8B91"/>
                </a:solidFill>
                <a:latin typeface="Arial"/>
              </a:defRPr>
            </a:pPr>
            <a:r>
              <a:t>Фильтр сигнала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86200"/>
            <a:ext cx="3136392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66B80"/>
                </a:solidFill>
                <a:latin typeface="Arial"/>
              </a:defRPr>
            </a:pPr>
            <a:r>
              <a:t>Максимум из 0,5% цены</a:t>
            </a:r>
          </a:p>
          <a:p>
            <a:pPr>
              <a:spcAft>
                <a:spcPts val="800"/>
              </a:spcAft>
              <a:defRPr sz="1700" b="0">
                <a:solidFill>
                  <a:srgbClr val="566B80"/>
                </a:solidFill>
                <a:latin typeface="Arial"/>
              </a:defRPr>
            </a:pPr>
            <a:r>
              <a:t>и ½ медианной прошлой ошибки</a:t>
            </a:r>
          </a:p>
          <a:p>
            <a:pPr>
              <a:spcAft>
                <a:spcPts val="800"/>
              </a:spcAft>
              <a:defRPr sz="1700" b="0">
                <a:solidFill>
                  <a:srgbClr val="566B80"/>
                </a:solidFill>
                <a:latin typeface="Arial"/>
              </a:defRPr>
            </a:pPr>
            <a:r>
              <a:t>для данного горизонта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2999232"/>
            <a:ext cx="352044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3209544"/>
            <a:ext cx="313639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8B91"/>
                </a:solidFill>
                <a:latin typeface="Arial"/>
              </a:defRPr>
            </a:pPr>
            <a:r>
              <a:t>Выбор одной недели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3886200"/>
            <a:ext cx="3136392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66B80"/>
                </a:solidFill>
                <a:latin typeface="Arial"/>
              </a:defRPr>
            </a:pPr>
            <a:r>
              <a:t>Максимальное отношение</a:t>
            </a:r>
          </a:p>
          <a:p>
            <a:pPr>
              <a:spcAft>
                <a:spcPts val="800"/>
              </a:spcAft>
              <a:defRPr sz="1700" b="0">
                <a:solidFill>
                  <a:srgbClr val="566B80"/>
                </a:solidFill>
                <a:latin typeface="Arial"/>
              </a:defRPr>
            </a:pPr>
            <a:r>
              <a:t>прогнозного изменения к порогу</a:t>
            </a:r>
          </a:p>
          <a:p>
            <a:pPr>
              <a:spcAft>
                <a:spcPts val="800"/>
              </a:spcAft>
              <a:defRPr sz="1700" b="0">
                <a:solidFill>
                  <a:srgbClr val="566B80"/>
                </a:solidFill>
                <a:latin typeface="Arial"/>
              </a:defRPr>
            </a:pPr>
            <a:r>
              <a:t>Все 13 прогнозов известны при 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2999232"/>
            <a:ext cx="352044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5" y="3209544"/>
            <a:ext cx="313639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8B91"/>
                </a:solidFill>
                <a:latin typeface="Arial"/>
              </a:defRPr>
            </a:pPr>
            <a:r>
              <a:t>Проверка риска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5" y="3886200"/>
            <a:ext cx="3136392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66B80"/>
                </a:solidFill>
                <a:latin typeface="Arial"/>
              </a:defRPr>
            </a:pPr>
            <a:r>
              <a:t>Затраты на вход и выход</a:t>
            </a:r>
          </a:p>
          <a:p>
            <a:pPr>
              <a:spcAft>
                <a:spcPts val="800"/>
              </a:spcAft>
              <a:defRPr sz="1700" b="0">
                <a:solidFill>
                  <a:srgbClr val="566B80"/>
                </a:solidFill>
                <a:latin typeface="Arial"/>
              </a:defRPr>
            </a:pPr>
            <a:r>
              <a:t>Удаление лучших периодов</a:t>
            </a:r>
          </a:p>
          <a:p>
            <a:pPr>
              <a:spcAft>
                <a:spcPts val="800"/>
              </a:spcAft>
              <a:defRPr sz="1700" b="0">
                <a:solidFill>
                  <a:srgbClr val="566B80"/>
                </a:solidFill>
                <a:latin typeface="Arial"/>
              </a:defRPr>
            </a:pPr>
            <a:r>
              <a:t>Порог ±10% по отдельности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8978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66B80"/>
                </a:solidFill>
                <a:latin typeface="Arial"/>
              </a:defRPr>
            </a:pPr>
            <a:r>
              <a:t>Синтетический пример: цена 1,00 → 0,98; позиция −1; P&amp;L = +0,02 до затрат.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8B91"/>
                </a:solidFill>
                <a:latin typeface="Arial"/>
              </a:defRPr>
            </a:pPr>
            <a:r>
              <a:t>ВОПРОСЫ · ИНЖЕНЕРИЯ И ПРОДУКТ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52D46"/>
                </a:solidFill>
                <a:latin typeface="Arial"/>
              </a:defRPr>
            </a:pPr>
            <a:r>
              <a:t>Воспроизводимость и границы готовности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11887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74536"/>
            <a:ext cx="914400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66B80"/>
                </a:solidFill>
                <a:latin typeface="Arial"/>
              </a:defRPr>
            </a:pPr>
            <a:r>
              <a:t>РОСХИМ · ПВХ SG-5 DAP Достык · 29 октября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3796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66B80"/>
                </a:solidFill>
                <a:latin typeface="Arial"/>
              </a:defRPr>
            </a:pPr>
            <a:r>
              <a:t>РЕЗЕРВ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10512"/>
            <a:ext cx="3520440" cy="18105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956816"/>
            <a:ext cx="311810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566B80"/>
                </a:solidFill>
                <a:latin typeface="Arial"/>
              </a:defRPr>
            </a:pPr>
            <a:r>
              <a:t>ТЕСТЫ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31720"/>
            <a:ext cx="31181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008B91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980944"/>
            <a:ext cx="3118104" cy="5577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66B80"/>
                </a:solidFill>
                <a:latin typeface="Arial"/>
              </a:defRPr>
            </a:pPr>
            <a:r>
              <a:t>автоматических проверок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10512"/>
            <a:ext cx="3520440" cy="18105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1956816"/>
            <a:ext cx="311810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566B80"/>
                </a:solidFill>
                <a:latin typeface="Arial"/>
              </a:defRPr>
            </a:pPr>
            <a:r>
              <a:t>ЧИСТЫЙ ЗАПУСК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2331720"/>
            <a:ext cx="31181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008B91"/>
                </a:solidFill>
                <a:latin typeface="Arial"/>
              </a:defRPr>
            </a:pPr>
            <a:r>
              <a:t>CSV = 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980944"/>
            <a:ext cx="3118104" cy="5577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66B80"/>
                </a:solidFill>
                <a:latin typeface="Arial"/>
              </a:defRPr>
            </a:pPr>
            <a:r>
              <a:t>побайтное совпадение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1810512"/>
            <a:ext cx="3520440" cy="18105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1956816"/>
            <a:ext cx="311810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566B80"/>
                </a:solidFill>
                <a:latin typeface="Arial"/>
              </a:defRPr>
            </a:pPr>
            <a:r>
              <a:t>ФАЙЛЫ СДАЧИ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331720"/>
            <a:ext cx="31181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008B91"/>
                </a:solidFill>
                <a:latin typeface="Arial"/>
              </a:defRPr>
            </a:pPr>
            <a:r>
              <a:t>13 + 13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2980944"/>
            <a:ext cx="3118104" cy="5577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66B80"/>
                </a:solidFill>
                <a:latin typeface="Arial"/>
              </a:defRPr>
            </a:pPr>
            <a:r>
              <a:t>прогнозы и фиксированные позиции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895344"/>
            <a:ext cx="11064240" cy="21214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09651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52D46"/>
                </a:solidFill>
                <a:latin typeface="Arial"/>
              </a:defRPr>
            </a:pPr>
            <a:r>
              <a:t>От исходного XLSB до проверенного комплекта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4690872"/>
            <a:ext cx="1046988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566B80"/>
                </a:solidFill>
                <a:latin typeface="Arial"/>
              </a:defRPr>
            </a:pPr>
            <a:r>
              <a:t>Чистое виртуальное окружение и отдельный каталог исходников на той же машине.</a:t>
            </a:r>
          </a:p>
          <a:p>
            <a:pPr>
              <a:spcAft>
                <a:spcPts val="800"/>
              </a:spcAft>
              <a:defRPr sz="1800" b="0">
                <a:solidFill>
                  <a:srgbClr val="566B80"/>
                </a:solidFill>
                <a:latin typeface="Arial"/>
              </a:defRPr>
            </a:pPr>
            <a:r>
              <a:t>SHA-256 защищает CSV и параметры от случайной замены.</a:t>
            </a:r>
          </a:p>
          <a:p>
            <a:pPr>
              <a:spcAft>
                <a:spcPts val="800"/>
              </a:spcAft>
              <a:defRPr sz="1800" b="0">
                <a:solidFill>
                  <a:srgbClr val="566B80"/>
                </a:solidFill>
                <a:latin typeface="Arial"/>
              </a:defRPr>
            </a:pPr>
            <a:r>
              <a:t>Следующий этап: новые данные, экономические объёмы, комиссии, интеграция.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